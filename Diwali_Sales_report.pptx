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E94A3E-95BB-4CD6-99A0-E7406386BF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8BA3537-01F8-47A9-AD92-CB94E2026A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8287AD-7867-4E59-BF28-A04E7550E7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A7E6B83-4EE1-4D60-9C83-0984F310FF5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7BB47D9-5EFA-40DC-9835-2FEA69E751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3132D77-1336-446B-9086-0FB42F54ED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02DB158-67CE-4042-9D5C-85CF727F1F8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72800C4-C650-4A47-B071-A658D5D58E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4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5331D91-BFAC-408B-939F-2BA0855724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63E82D6-DA1E-4504-87F9-235E6736A8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EF837C5-D18C-494D-A671-B1BDF4ED61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1"/>
          <p:cNvSpPr/>
          <p:nvPr/>
        </p:nvSpPr>
        <p:spPr>
          <a:xfrm>
            <a:off x="8732520" y="0"/>
            <a:ext cx="3474360" cy="6857640"/>
          </a:xfrm>
          <a:prstGeom prst="rect">
            <a:avLst/>
          </a:prstGeom>
          <a:solidFill>
            <a:srgbClr val="1D3D63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" name="Rectangle 2"/>
          <p:cNvSpPr/>
          <p:nvPr/>
        </p:nvSpPr>
        <p:spPr>
          <a:xfrm>
            <a:off x="8732520" y="5303520"/>
            <a:ext cx="3474360" cy="1554120"/>
          </a:xfrm>
          <a:prstGeom prst="rect">
            <a:avLst/>
          </a:prstGeom>
          <a:solidFill>
            <a:srgbClr val="1F9D8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" name="TextBox 3"/>
          <p:cNvSpPr/>
          <p:nvPr/>
        </p:nvSpPr>
        <p:spPr>
          <a:xfrm>
            <a:off x="777240" y="1234440"/>
            <a:ext cx="7497720" cy="61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chemeClr val="accent6"/>
                </a:solidFill>
                <a:effectLst/>
                <a:uFillTx/>
                <a:latin typeface="Algerian" panose="04020705040A02060702" pitchFamily="82" charset="0"/>
              </a:rPr>
              <a:t>DIWALI SALES</a:t>
            </a:r>
            <a:endParaRPr lang="en-US" sz="3400" b="0" u="none" strike="noStrike" dirty="0">
              <a:solidFill>
                <a:srgbClr val="FFFFFF"/>
              </a:solidFill>
              <a:effectLst/>
              <a:uFillTx/>
              <a:latin typeface="Algerian" panose="04020705040A02060702" pitchFamily="82" charset="0"/>
            </a:endParaRPr>
          </a:p>
        </p:txBody>
      </p:sp>
      <p:sp>
        <p:nvSpPr>
          <p:cNvPr id="62" name="TextBox 4"/>
          <p:cNvSpPr/>
          <p:nvPr/>
        </p:nvSpPr>
        <p:spPr>
          <a:xfrm>
            <a:off x="777240" y="1965960"/>
            <a:ext cx="77720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B9D8E8"/>
                </a:solidFill>
                <a:effectLst/>
                <a:uFillTx/>
                <a:latin typeface="Aptos"/>
              </a:rPr>
              <a:t>CUSTOMER &amp; REVENUE ANALYTICS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822960" y="2880360"/>
            <a:ext cx="68576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 data-driven business intelligence report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6"/>
          <p:cNvSpPr/>
          <p:nvPr/>
        </p:nvSpPr>
        <p:spPr>
          <a:xfrm>
            <a:off x="822960" y="3657600"/>
            <a:ext cx="704052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D9E4EF"/>
                </a:solidFill>
                <a:effectLst/>
                <a:uFillTx/>
                <a:latin typeface="Aptos"/>
              </a:rPr>
              <a:t>Customer segmentation • Regional performance • Product demand • Growth opportunities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7"/>
          <p:cNvSpPr/>
          <p:nvPr/>
        </p:nvSpPr>
        <p:spPr>
          <a:xfrm>
            <a:off x="822960" y="6080760"/>
            <a:ext cx="7314840" cy="24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6"/>
                </a:solidFill>
                <a:effectLst/>
                <a:uFillTx/>
                <a:latin typeface="Aptos"/>
              </a:rPr>
              <a:t>Prepared using the supplied Jupyter Notebook and sales dataset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8"/>
          <p:cNvSpPr/>
          <p:nvPr/>
        </p:nvSpPr>
        <p:spPr>
          <a:xfrm>
            <a:off x="9052560" y="2331720"/>
            <a:ext cx="2651400" cy="70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chemeClr val="accent6"/>
                </a:solidFill>
                <a:effectLst/>
                <a:uFillTx/>
                <a:latin typeface="Aptos"/>
              </a:rPr>
              <a:t>DATA → INSIGHT → ACTION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9"/>
          <p:cNvSpPr/>
          <p:nvPr/>
        </p:nvSpPr>
        <p:spPr>
          <a:xfrm>
            <a:off x="9098280" y="329184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D9E4EF"/>
                </a:solidFill>
                <a:effectLst/>
                <a:uFillTx/>
                <a:latin typeface="Aptos"/>
              </a:rPr>
              <a:t>SALES PERFORMANCE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4112A6-20A7-6339-7C32-166CD318E95F}"/>
              </a:ext>
            </a:extLst>
          </p:cNvPr>
          <p:cNvSpPr txBox="1"/>
          <p:nvPr/>
        </p:nvSpPr>
        <p:spPr>
          <a:xfrm>
            <a:off x="3805084" y="15240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"/>
          <p:cNvSpPr/>
          <p:nvPr/>
        </p:nvSpPr>
        <p:spPr>
          <a:xfrm>
            <a:off x="502920" y="29268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42B4A"/>
                </a:solidFill>
                <a:effectLst/>
                <a:uFillTx/>
                <a:latin typeface="Aptos"/>
              </a:rPr>
              <a:t>Executive summary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"/>
          <p:cNvSpPr/>
          <p:nvPr/>
        </p:nvSpPr>
        <p:spPr>
          <a:xfrm>
            <a:off x="530280" y="831960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Key findings from the customer and sales analysis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3"/>
          <p:cNvSpPr/>
          <p:nvPr/>
        </p:nvSpPr>
        <p:spPr>
          <a:xfrm>
            <a:off x="530280" y="1170360"/>
            <a:ext cx="776880" cy="54360"/>
          </a:xfrm>
          <a:prstGeom prst="rect">
            <a:avLst/>
          </a:prstGeom>
          <a:solidFill>
            <a:srgbClr val="1F9D8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Rounded Rectangle 4"/>
          <p:cNvSpPr/>
          <p:nvPr/>
        </p:nvSpPr>
        <p:spPr>
          <a:xfrm>
            <a:off x="594360" y="1508760"/>
            <a:ext cx="2605680" cy="11426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>
            <a:solidFill>
              <a:srgbClr val="E3EAF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5"/>
          <p:cNvSpPr/>
          <p:nvPr/>
        </p:nvSpPr>
        <p:spPr>
          <a:xfrm>
            <a:off x="758880" y="1645920"/>
            <a:ext cx="22766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TOTAL REVENUE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6"/>
          <p:cNvSpPr/>
          <p:nvPr/>
        </p:nvSpPr>
        <p:spPr>
          <a:xfrm>
            <a:off x="758880" y="1947600"/>
            <a:ext cx="2276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F9D8B"/>
                </a:solidFill>
                <a:effectLst/>
                <a:uFillTx/>
                <a:latin typeface="Aptos"/>
              </a:rPr>
              <a:t>₹10.62 Cr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7"/>
          <p:cNvSpPr/>
          <p:nvPr/>
        </p:nvSpPr>
        <p:spPr>
          <a:xfrm>
            <a:off x="3429000" y="1508760"/>
            <a:ext cx="2605680" cy="11426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>
            <a:solidFill>
              <a:srgbClr val="E3EAF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8"/>
          <p:cNvSpPr/>
          <p:nvPr/>
        </p:nvSpPr>
        <p:spPr>
          <a:xfrm>
            <a:off x="3593520" y="1645920"/>
            <a:ext cx="22766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UNIQUE CUSTOMERS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9"/>
          <p:cNvSpPr/>
          <p:nvPr/>
        </p:nvSpPr>
        <p:spPr>
          <a:xfrm>
            <a:off x="3593520" y="1947600"/>
            <a:ext cx="2276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F9D8B"/>
                </a:solidFill>
                <a:effectLst/>
                <a:uFillTx/>
                <a:latin typeface="Aptos"/>
              </a:rPr>
              <a:t>3,755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10"/>
          <p:cNvSpPr/>
          <p:nvPr/>
        </p:nvSpPr>
        <p:spPr>
          <a:xfrm>
            <a:off x="6263640" y="1508760"/>
            <a:ext cx="2605680" cy="11426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>
            <a:solidFill>
              <a:srgbClr val="E3EAF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11"/>
          <p:cNvSpPr/>
          <p:nvPr/>
        </p:nvSpPr>
        <p:spPr>
          <a:xfrm>
            <a:off x="6428160" y="1645920"/>
            <a:ext cx="22766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ORDER QUANTITY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2"/>
          <p:cNvSpPr/>
          <p:nvPr/>
        </p:nvSpPr>
        <p:spPr>
          <a:xfrm>
            <a:off x="6428160" y="1947600"/>
            <a:ext cx="2276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F9D8B"/>
                </a:solidFill>
                <a:effectLst/>
                <a:uFillTx/>
                <a:latin typeface="Aptos"/>
              </a:rPr>
              <a:t>28,007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ounded Rectangle 13"/>
          <p:cNvSpPr/>
          <p:nvPr/>
        </p:nvSpPr>
        <p:spPr>
          <a:xfrm>
            <a:off x="9098280" y="1508760"/>
            <a:ext cx="2514240" cy="114264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>
            <a:solidFill>
              <a:srgbClr val="E3EAF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14"/>
          <p:cNvSpPr/>
          <p:nvPr/>
        </p:nvSpPr>
        <p:spPr>
          <a:xfrm>
            <a:off x="9262800" y="1645920"/>
            <a:ext cx="2185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AVERAGE CUSTOMER AGE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5"/>
          <p:cNvSpPr/>
          <p:nvPr/>
        </p:nvSpPr>
        <p:spPr>
          <a:xfrm>
            <a:off x="9262800" y="1947600"/>
            <a:ext cx="218520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F9D8B"/>
                </a:solidFill>
                <a:effectLst/>
                <a:uFillTx/>
                <a:latin typeface="Aptos"/>
              </a:rPr>
              <a:t>35.4 years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6"/>
          <p:cNvSpPr/>
          <p:nvPr/>
        </p:nvSpPr>
        <p:spPr>
          <a:xfrm>
            <a:off x="777240" y="3063240"/>
            <a:ext cx="10789560" cy="35379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1199"/>
              </a:spcAft>
              <a:buFont typeface="Arial" panose="020B0604020202020204" pitchFamily="34" charset="0"/>
              <a:buChar char="•"/>
            </a:pPr>
            <a:r>
              <a:rPr lang="en-US" sz="1600" b="0" u="none" strike="noStrike" dirty="0">
                <a:solidFill>
                  <a:srgbClr val="1D2939"/>
                </a:solidFill>
                <a:effectLst/>
                <a:uFillTx/>
                <a:latin typeface="Aptos"/>
              </a:rPr>
              <a:t>Female customers account for the largest revenue share (₹7.43 Cr).
Customers aged 26–35 form the highest-revenue age segment.
Uttar Pradesh leads state revenue, while the Central zone leads zonal revenue.
Food is the highest-revenue product category.
Government employees record the highest average transaction amount by occupation.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7"/>
          <p:cNvSpPr/>
          <p:nvPr/>
        </p:nvSpPr>
        <p:spPr>
          <a:xfrm>
            <a:off x="530280" y="6546960"/>
            <a:ext cx="73148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DIWALI SALES ANALYTICS  •  PYTHON / PANDAS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8"/>
          <p:cNvSpPr/>
          <p:nvPr/>
        </p:nvSpPr>
        <p:spPr>
          <a:xfrm>
            <a:off x="11201400" y="65106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02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1"/>
          <p:cNvSpPr/>
          <p:nvPr/>
        </p:nvSpPr>
        <p:spPr>
          <a:xfrm>
            <a:off x="502920" y="29268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 dirty="0">
                <a:solidFill>
                  <a:srgbClr val="142B4A"/>
                </a:solidFill>
                <a:effectLst/>
                <a:uFillTx/>
                <a:latin typeface="Aptos"/>
              </a:rPr>
              <a:t>Project scope &amp; methodology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"/>
          <p:cNvSpPr/>
          <p:nvPr/>
        </p:nvSpPr>
        <p:spPr>
          <a:xfrm>
            <a:off x="530280" y="831960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Analytical scope, preparation steps and metric definitions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3"/>
          <p:cNvSpPr/>
          <p:nvPr/>
        </p:nvSpPr>
        <p:spPr>
          <a:xfrm>
            <a:off x="530280" y="1170360"/>
            <a:ext cx="776880" cy="54360"/>
          </a:xfrm>
          <a:prstGeom prst="rect">
            <a:avLst/>
          </a:prstGeom>
          <a:solidFill>
            <a:srgbClr val="1F9D8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4"/>
          <p:cNvSpPr/>
          <p:nvPr/>
        </p:nvSpPr>
        <p:spPr>
          <a:xfrm>
            <a:off x="530280" y="1618380"/>
            <a:ext cx="10789560" cy="438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1199"/>
              </a:spcAft>
              <a:buFont typeface="Wingdings" panose="05000000000000000000" pitchFamily="2" charset="2"/>
              <a:buChar char="v"/>
            </a:pPr>
            <a:r>
              <a:rPr lang="en-US" sz="1600" b="0" u="none" strike="noStrike" dirty="0">
                <a:solidFill>
                  <a:srgbClr val="1D2939"/>
                </a:solidFill>
                <a:effectLst/>
                <a:uFillTx/>
                <a:latin typeface="Aptos"/>
              </a:rPr>
              <a:t>Dataset: 11,251 transaction records and 14 retained source columns after removing the unused unnamed field.
Tools: Python, pandas, NumPy, Matplotlib and Seaborn.
Preparation: standardized text fields and mapped marital-status codes to Married / Unmarried.
Revenue = sum of Amount; order volume = sum of Orders; customer count = distinct </a:t>
            </a:r>
            <a:r>
              <a:rPr lang="en-US" sz="1600" b="0" u="none" strike="noStrike" dirty="0" err="1">
                <a:solidFill>
                  <a:srgbClr val="1D2939"/>
                </a:solidFill>
                <a:effectLst/>
                <a:uFillTx/>
                <a:latin typeface="Aptos"/>
              </a:rPr>
              <a:t>User_ID</a:t>
            </a:r>
            <a:r>
              <a:rPr lang="en-US" sz="1600" b="0" u="none" strike="noStrike" dirty="0">
                <a:solidFill>
                  <a:srgbClr val="1D2939"/>
                </a:solidFill>
                <a:effectLst/>
                <a:uFillTx/>
                <a:latin typeface="Aptos"/>
              </a:rPr>
              <a:t>.
Average order value (AOV) = total revenue divided by total Orders within each group.
Data quality: 12 records have missing Amount values; these are excluded from revenue totals.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5"/>
          <p:cNvSpPr/>
          <p:nvPr/>
        </p:nvSpPr>
        <p:spPr>
          <a:xfrm>
            <a:off x="530280" y="6546960"/>
            <a:ext cx="73148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DIWALI SALES ANALYTICS  •  PYTHON / PANDAS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6"/>
          <p:cNvSpPr/>
          <p:nvPr/>
        </p:nvSpPr>
        <p:spPr>
          <a:xfrm>
            <a:off x="11201400" y="65106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03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Box 1"/>
          <p:cNvSpPr/>
          <p:nvPr/>
        </p:nvSpPr>
        <p:spPr>
          <a:xfrm>
            <a:off x="502920" y="29268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42B4A"/>
                </a:solidFill>
                <a:effectLst/>
                <a:uFillTx/>
                <a:latin typeface="Aptos"/>
              </a:rPr>
              <a:t>Customer profile | Gender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2"/>
          <p:cNvSpPr/>
          <p:nvPr/>
        </p:nvSpPr>
        <p:spPr>
          <a:xfrm>
            <a:off x="530280" y="831960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Female customers lead both revenue contribution and order volume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3"/>
          <p:cNvSpPr/>
          <p:nvPr/>
        </p:nvSpPr>
        <p:spPr>
          <a:xfrm>
            <a:off x="530280" y="1170360"/>
            <a:ext cx="776880" cy="54360"/>
          </a:xfrm>
          <a:prstGeom prst="rect">
            <a:avLst/>
          </a:prstGeom>
          <a:solidFill>
            <a:srgbClr val="1F9D8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5" name="Picture 4" descr="gender_sales.png"/>
          <p:cNvPicPr/>
          <p:nvPr/>
        </p:nvPicPr>
        <p:blipFill>
          <a:blip r:embed="rId2"/>
          <a:stretch/>
        </p:blipFill>
        <p:spPr>
          <a:xfrm>
            <a:off x="502920" y="1371600"/>
            <a:ext cx="6491880" cy="452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Box 6"/>
          <p:cNvSpPr/>
          <p:nvPr/>
        </p:nvSpPr>
        <p:spPr>
          <a:xfrm>
            <a:off x="530280" y="6546960"/>
            <a:ext cx="73148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DIWALI SALES ANALYTICS  •  PYTHON / PANDAS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7"/>
          <p:cNvSpPr/>
          <p:nvPr/>
        </p:nvSpPr>
        <p:spPr>
          <a:xfrm>
            <a:off x="11201400" y="65106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04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7"/>
          <p:cNvSpPr/>
          <p:nvPr/>
        </p:nvSpPr>
        <p:spPr>
          <a:xfrm>
            <a:off x="7726680" y="1417320"/>
            <a:ext cx="3885840" cy="4434480"/>
          </a:xfrm>
          <a:prstGeom prst="roundRect">
            <a:avLst>
              <a:gd name="adj" fmla="val 16667"/>
            </a:avLst>
          </a:prstGeom>
          <a:solidFill>
            <a:srgbClr val="EFF4F8"/>
          </a:solidFill>
          <a:ln>
            <a:solidFill>
              <a:srgbClr val="DAE3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11"/>
          <p:cNvSpPr/>
          <p:nvPr/>
        </p:nvSpPr>
        <p:spPr>
          <a:xfrm>
            <a:off x="7955280" y="161856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D4C"/>
                </a:solidFill>
                <a:effectLst/>
                <a:uFillTx/>
                <a:latin typeface="Aptos"/>
              </a:rPr>
              <a:t>Interpretation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5"/>
          <p:cNvSpPr/>
          <p:nvPr/>
        </p:nvSpPr>
        <p:spPr>
          <a:xfrm>
            <a:off x="7726680" y="2116440"/>
            <a:ext cx="3803400" cy="193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1D2939"/>
                </a:solidFill>
                <a:effectLst/>
                <a:uFillTx/>
                <a:latin typeface="Aptos"/>
              </a:rPr>
              <a:t>Revenue leader: Female customers.
Share of total revenue: 70.0%.
Order volume: 19,568.
Action: test audience-specific campaigns and compare conversion rates and basket size across segments.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"/>
          <p:cNvSpPr/>
          <p:nvPr/>
        </p:nvSpPr>
        <p:spPr>
          <a:xfrm>
            <a:off x="502920" y="29268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42B4A"/>
                </a:solidFill>
                <a:effectLst/>
                <a:uFillTx/>
                <a:latin typeface="Aptos"/>
              </a:rPr>
              <a:t>Customer profile | Age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2"/>
          <p:cNvSpPr/>
          <p:nvPr/>
        </p:nvSpPr>
        <p:spPr>
          <a:xfrm>
            <a:off x="530280" y="831960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Customers aged 26–35 generate the highest revenue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ectangle 3"/>
          <p:cNvSpPr/>
          <p:nvPr/>
        </p:nvSpPr>
        <p:spPr>
          <a:xfrm>
            <a:off x="530280" y="1170360"/>
            <a:ext cx="776880" cy="54360"/>
          </a:xfrm>
          <a:prstGeom prst="rect">
            <a:avLst/>
          </a:prstGeom>
          <a:solidFill>
            <a:srgbClr val="1F9D8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4" name="Picture 4" descr="age_sales.png"/>
          <p:cNvPicPr/>
          <p:nvPr/>
        </p:nvPicPr>
        <p:blipFill>
          <a:blip r:embed="rId2"/>
          <a:stretch/>
        </p:blipFill>
        <p:spPr>
          <a:xfrm>
            <a:off x="502920" y="1371600"/>
            <a:ext cx="6766200" cy="452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Box 6"/>
          <p:cNvSpPr/>
          <p:nvPr/>
        </p:nvSpPr>
        <p:spPr>
          <a:xfrm>
            <a:off x="530280" y="6546960"/>
            <a:ext cx="73148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DIWALI SALES ANALYTICS  •  PYTHON / PANDAS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7"/>
          <p:cNvSpPr/>
          <p:nvPr/>
        </p:nvSpPr>
        <p:spPr>
          <a:xfrm>
            <a:off x="11201400" y="65106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05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Rounded Rectangle 7"/>
          <p:cNvSpPr/>
          <p:nvPr/>
        </p:nvSpPr>
        <p:spPr>
          <a:xfrm>
            <a:off x="7726680" y="1417320"/>
            <a:ext cx="3885840" cy="4434480"/>
          </a:xfrm>
          <a:prstGeom prst="roundRect">
            <a:avLst>
              <a:gd name="adj" fmla="val 16667"/>
            </a:avLst>
          </a:prstGeom>
          <a:solidFill>
            <a:srgbClr val="EFF4F8"/>
          </a:solidFill>
          <a:ln>
            <a:solidFill>
              <a:srgbClr val="DAE3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11"/>
          <p:cNvSpPr/>
          <p:nvPr/>
        </p:nvSpPr>
        <p:spPr>
          <a:xfrm>
            <a:off x="7955280" y="161856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D4C"/>
                </a:solidFill>
                <a:effectLst/>
                <a:uFillTx/>
                <a:latin typeface="Aptos"/>
              </a:rPr>
              <a:t>Interpretation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5"/>
          <p:cNvSpPr/>
          <p:nvPr/>
        </p:nvSpPr>
        <p:spPr>
          <a:xfrm>
            <a:off x="7772400" y="2057400"/>
            <a:ext cx="3821760" cy="324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1D2939"/>
                </a:solidFill>
                <a:effectLst/>
                <a:uFillTx/>
                <a:latin typeface="Aptos"/>
              </a:rPr>
              <a:t>Top revenue segment: ages 26–35.
Revenue: ₹4.26 Cr (40.1% of total).
Mean age in the dataset: 35.4 years.
Most represented individual age: 30 (397 distinct customers).
Action: prioritize relevant offers for this segment while monitoring performance among older customers.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Box 1"/>
          <p:cNvSpPr/>
          <p:nvPr/>
        </p:nvSpPr>
        <p:spPr>
          <a:xfrm>
            <a:off x="502920" y="29268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IN" sz="2600" b="1" u="none" strike="noStrike">
                <a:solidFill>
                  <a:srgbClr val="142B4A"/>
                </a:solidFill>
                <a:effectLst/>
                <a:uFillTx/>
                <a:latin typeface="Aptos"/>
              </a:rPr>
              <a:t>Customer profile | Age distribution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2"/>
          <p:cNvSpPr/>
          <p:nvPr/>
        </p:nvSpPr>
        <p:spPr>
          <a:xfrm>
            <a:off x="530280" y="831960"/>
            <a:ext cx="11063880" cy="26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Age distribution provides additional context for segment-level revenue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ectangle 3"/>
          <p:cNvSpPr/>
          <p:nvPr/>
        </p:nvSpPr>
        <p:spPr>
          <a:xfrm>
            <a:off x="530280" y="1170360"/>
            <a:ext cx="776880" cy="54360"/>
          </a:xfrm>
          <a:prstGeom prst="rect">
            <a:avLst/>
          </a:prstGeom>
          <a:solidFill>
            <a:srgbClr val="1F9D8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Box 6"/>
          <p:cNvSpPr/>
          <p:nvPr/>
        </p:nvSpPr>
        <p:spPr>
          <a:xfrm>
            <a:off x="530280" y="6546960"/>
            <a:ext cx="73148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DIWALI SALES ANALYTICS  •  PYTHON / PANDAS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7"/>
          <p:cNvSpPr/>
          <p:nvPr/>
        </p:nvSpPr>
        <p:spPr>
          <a:xfrm>
            <a:off x="11201400" y="65106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05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Picture 9" descr="diwali_age_distribution.png"/>
          <p:cNvPicPr/>
          <p:nvPr/>
        </p:nvPicPr>
        <p:blipFill>
          <a:blip r:embed="rId2"/>
          <a:stretch/>
        </p:blipFill>
        <p:spPr>
          <a:xfrm>
            <a:off x="502920" y="1325880"/>
            <a:ext cx="6949080" cy="4434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Rounded Rectangle 7"/>
          <p:cNvSpPr/>
          <p:nvPr/>
        </p:nvSpPr>
        <p:spPr>
          <a:xfrm>
            <a:off x="7726680" y="1417320"/>
            <a:ext cx="3885840" cy="4434480"/>
          </a:xfrm>
          <a:prstGeom prst="roundRect">
            <a:avLst>
              <a:gd name="adj" fmla="val 16667"/>
            </a:avLst>
          </a:prstGeom>
          <a:solidFill>
            <a:srgbClr val="EFF4F8"/>
          </a:solidFill>
          <a:ln>
            <a:solidFill>
              <a:srgbClr val="DAE3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13"/>
          <p:cNvSpPr/>
          <p:nvPr/>
        </p:nvSpPr>
        <p:spPr>
          <a:xfrm>
            <a:off x="7955280" y="161856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D4C"/>
                </a:solidFill>
                <a:effectLst/>
                <a:uFillTx/>
                <a:latin typeface="Aptos"/>
              </a:rPr>
              <a:t>Interpretation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15"/>
          <p:cNvSpPr/>
          <p:nvPr/>
        </p:nvSpPr>
        <p:spPr>
          <a:xfrm>
            <a:off x="7772400" y="2130480"/>
            <a:ext cx="3794400" cy="324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 defTabSz="457200">
              <a:lnSpc>
                <a:spcPct val="100000"/>
              </a:lnSpc>
              <a:spcAft>
                <a:spcPts val="1001"/>
              </a:spcAft>
              <a:buClr>
                <a:srgbClr val="2A303A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2A303A"/>
                </a:solidFill>
                <a:effectLst/>
                <a:uFillTx/>
                <a:latin typeface="Aptos"/>
              </a:rPr>
              <a:t>Mean age across source records: 35.4 years.
Age 30 is the most represented individual age (397 distinct customers).
The histogram counts records, so repeat customer IDs may appear more than once.
For customer-level demographic estimates, aggregate or deduplicate by User_ID.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001"/>
              </a:spcAft>
              <a:buClr>
                <a:srgbClr val="2A303A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001"/>
              </a:spcAft>
              <a:buClr>
                <a:srgbClr val="2A303A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001"/>
              </a:spcAft>
              <a:buClr>
                <a:srgbClr val="2A303A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Box 1"/>
          <p:cNvSpPr/>
          <p:nvPr/>
        </p:nvSpPr>
        <p:spPr>
          <a:xfrm>
            <a:off x="502920" y="29268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42B4A"/>
                </a:solidFill>
                <a:effectLst/>
                <a:uFillTx/>
                <a:latin typeface="Aptos"/>
              </a:rPr>
              <a:t>Customer profile | Marital status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2"/>
          <p:cNvSpPr/>
          <p:nvPr/>
        </p:nvSpPr>
        <p:spPr>
          <a:xfrm>
            <a:off x="530280" y="831960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Unmarried customers account for the greater revenue and order share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3"/>
          <p:cNvSpPr/>
          <p:nvPr/>
        </p:nvSpPr>
        <p:spPr>
          <a:xfrm>
            <a:off x="530280" y="1170360"/>
            <a:ext cx="776880" cy="54360"/>
          </a:xfrm>
          <a:prstGeom prst="rect">
            <a:avLst/>
          </a:prstGeom>
          <a:solidFill>
            <a:srgbClr val="1F9D8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2" name="Picture 4" descr="marital_sales.png"/>
          <p:cNvPicPr/>
          <p:nvPr/>
        </p:nvPicPr>
        <p:blipFill>
          <a:blip r:embed="rId2"/>
          <a:stretch/>
        </p:blipFill>
        <p:spPr>
          <a:xfrm>
            <a:off x="594360" y="1417320"/>
            <a:ext cx="612612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TextBox 6"/>
          <p:cNvSpPr/>
          <p:nvPr/>
        </p:nvSpPr>
        <p:spPr>
          <a:xfrm>
            <a:off x="530280" y="6546960"/>
            <a:ext cx="73148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DIWALI SALES ANALYTICS  •  PYTHON / PANDAS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7"/>
          <p:cNvSpPr/>
          <p:nvPr/>
        </p:nvSpPr>
        <p:spPr>
          <a:xfrm>
            <a:off x="11201400" y="65106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ounded Rectangle 7"/>
          <p:cNvSpPr/>
          <p:nvPr/>
        </p:nvSpPr>
        <p:spPr>
          <a:xfrm>
            <a:off x="7726680" y="1417320"/>
            <a:ext cx="3885840" cy="4434480"/>
          </a:xfrm>
          <a:prstGeom prst="roundRect">
            <a:avLst>
              <a:gd name="adj" fmla="val 16667"/>
            </a:avLst>
          </a:prstGeom>
          <a:solidFill>
            <a:srgbClr val="EFF4F8"/>
          </a:solidFill>
          <a:ln>
            <a:solidFill>
              <a:srgbClr val="DAE3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11"/>
          <p:cNvSpPr/>
          <p:nvPr/>
        </p:nvSpPr>
        <p:spPr>
          <a:xfrm>
            <a:off x="7955280" y="161856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D4C"/>
                </a:solidFill>
                <a:effectLst/>
                <a:uFillTx/>
                <a:latin typeface="Aptos"/>
              </a:rPr>
              <a:t>Interpretation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5"/>
          <p:cNvSpPr/>
          <p:nvPr/>
        </p:nvSpPr>
        <p:spPr>
          <a:xfrm>
            <a:off x="7775280" y="2112120"/>
            <a:ext cx="3791520" cy="216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1D2939"/>
                </a:solidFill>
                <a:effectLst/>
                <a:uFillTx/>
                <a:latin typeface="Aptos"/>
              </a:rPr>
              <a:t>Leading segment: Unmarried customers.
Revenue: ₹6.21 Cr.
Order volume: 16,258.
Action: compare campaign response and average basket value by marital segment before reallocating marketing spend.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Box 1"/>
          <p:cNvSpPr/>
          <p:nvPr/>
        </p:nvSpPr>
        <p:spPr>
          <a:xfrm>
            <a:off x="502920" y="29268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42B4A"/>
                </a:solidFill>
                <a:effectLst/>
                <a:uFillTx/>
                <a:latin typeface="Aptos"/>
              </a:rPr>
              <a:t>Regional performance | State revenue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2"/>
          <p:cNvSpPr/>
          <p:nvPr/>
        </p:nvSpPr>
        <p:spPr>
          <a:xfrm>
            <a:off x="530280" y="831960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Uttar Pradesh ranks first in state-level revenue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Rectangle 3"/>
          <p:cNvSpPr/>
          <p:nvPr/>
        </p:nvSpPr>
        <p:spPr>
          <a:xfrm>
            <a:off x="530280" y="1170360"/>
            <a:ext cx="776880" cy="54360"/>
          </a:xfrm>
          <a:prstGeom prst="rect">
            <a:avLst/>
          </a:prstGeom>
          <a:solidFill>
            <a:srgbClr val="1F9D8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1" name="Picture 4" descr="state_sales.png"/>
          <p:cNvPicPr/>
          <p:nvPr/>
        </p:nvPicPr>
        <p:blipFill>
          <a:blip r:embed="rId2"/>
          <a:stretch/>
        </p:blipFill>
        <p:spPr>
          <a:xfrm>
            <a:off x="502920" y="1353240"/>
            <a:ext cx="6949080" cy="47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TextBox 6"/>
          <p:cNvSpPr/>
          <p:nvPr/>
        </p:nvSpPr>
        <p:spPr>
          <a:xfrm>
            <a:off x="530280" y="6546960"/>
            <a:ext cx="73148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DIWALI SALES ANALYTICS  •  PYTHON / PANDAS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7"/>
          <p:cNvSpPr/>
          <p:nvPr/>
        </p:nvSpPr>
        <p:spPr>
          <a:xfrm>
            <a:off x="11201400" y="65106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07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7"/>
          <p:cNvSpPr/>
          <p:nvPr/>
        </p:nvSpPr>
        <p:spPr>
          <a:xfrm>
            <a:off x="7726680" y="1417320"/>
            <a:ext cx="3885840" cy="4434480"/>
          </a:xfrm>
          <a:prstGeom prst="roundRect">
            <a:avLst>
              <a:gd name="adj" fmla="val 16667"/>
            </a:avLst>
          </a:prstGeom>
          <a:solidFill>
            <a:srgbClr val="EFF4F8"/>
          </a:solidFill>
          <a:ln>
            <a:solidFill>
              <a:srgbClr val="DAE3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11"/>
          <p:cNvSpPr/>
          <p:nvPr/>
        </p:nvSpPr>
        <p:spPr>
          <a:xfrm>
            <a:off x="7955280" y="161856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D4C"/>
                </a:solidFill>
                <a:effectLst/>
                <a:uFillTx/>
                <a:latin typeface="Aptos"/>
              </a:rPr>
              <a:t>Interpretation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5"/>
          <p:cNvSpPr/>
          <p:nvPr/>
        </p:nvSpPr>
        <p:spPr>
          <a:xfrm>
            <a:off x="7754040" y="2066400"/>
            <a:ext cx="3840120" cy="240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1D2939"/>
                </a:solidFill>
                <a:effectLst/>
                <a:uFillTx/>
                <a:latin typeface="Aptos"/>
              </a:rPr>
              <a:t>Leading state: Uttar Pradesh.
Revenue: ₹1.94 Cr.
The top-10 ranking can inform regional campaign planning.
Action: evaluate revenue alongside order volume, audience reach and marketing investment before allocating budget.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4" descr="state_scatter.png"/>
          <p:cNvPicPr/>
          <p:nvPr/>
        </p:nvPicPr>
        <p:blipFill>
          <a:blip r:embed="rId2"/>
          <a:stretch/>
        </p:blipFill>
        <p:spPr>
          <a:xfrm>
            <a:off x="502920" y="1417320"/>
            <a:ext cx="7314840" cy="452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Rounded Rectangle 7"/>
          <p:cNvSpPr/>
          <p:nvPr/>
        </p:nvSpPr>
        <p:spPr>
          <a:xfrm>
            <a:off x="7726680" y="1417320"/>
            <a:ext cx="3885840" cy="4434480"/>
          </a:xfrm>
          <a:prstGeom prst="roundRect">
            <a:avLst>
              <a:gd name="adj" fmla="val 16667"/>
            </a:avLst>
          </a:prstGeom>
          <a:solidFill>
            <a:srgbClr val="EFF4F8"/>
          </a:solidFill>
          <a:ln>
            <a:solidFill>
              <a:srgbClr val="DAE3E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11"/>
          <p:cNvSpPr/>
          <p:nvPr/>
        </p:nvSpPr>
        <p:spPr>
          <a:xfrm>
            <a:off x="7955280" y="161856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700" b="1" u="none" strike="noStrike">
                <a:solidFill>
                  <a:srgbClr val="182D4C"/>
                </a:solidFill>
                <a:effectLst/>
                <a:uFillTx/>
                <a:latin typeface="Aptos"/>
              </a:rPr>
              <a:t>Interpretation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"/>
          <p:cNvSpPr/>
          <p:nvPr/>
        </p:nvSpPr>
        <p:spPr>
          <a:xfrm>
            <a:off x="502920" y="29268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42B4A"/>
                </a:solidFill>
                <a:effectLst/>
                <a:uFillTx/>
                <a:latin typeface="Aptos"/>
              </a:rPr>
              <a:t>Regional opportunity | Orders vs revenue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2"/>
          <p:cNvSpPr/>
          <p:nvPr/>
        </p:nvSpPr>
        <p:spPr>
          <a:xfrm>
            <a:off x="530280" y="831960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Identify states with high order volume but comparatively lower revenue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ectangle 3"/>
          <p:cNvSpPr/>
          <p:nvPr/>
        </p:nvSpPr>
        <p:spPr>
          <a:xfrm>
            <a:off x="530280" y="1170360"/>
            <a:ext cx="776880" cy="54360"/>
          </a:xfrm>
          <a:prstGeom prst="rect">
            <a:avLst/>
          </a:prstGeom>
          <a:solidFill>
            <a:srgbClr val="1F9D8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Box 5"/>
          <p:cNvSpPr/>
          <p:nvPr/>
        </p:nvSpPr>
        <p:spPr>
          <a:xfrm>
            <a:off x="7895880" y="2084760"/>
            <a:ext cx="3565800" cy="309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r>
              <a:rPr lang="en-US" sz="1500" b="0" u="none" strike="noStrike">
                <a:solidFill>
                  <a:srgbClr val="1D2939"/>
                </a:solidFill>
                <a:effectLst/>
                <a:uFillTx/>
                <a:latin typeface="Aptos"/>
              </a:rPr>
              <a:t>Each point represents a state; rightward positions indicate more orders and higher positions indicate greater revenue.
High order volume paired with lower revenue may indicate a lower average order value.
State flagged by the rank comparison: Kerala.
Next step: review category mix, discounts, product mix and order value in the flagged state.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spcAft>
                <a:spcPts val="1199"/>
              </a:spcAft>
              <a:buClr>
                <a:srgbClr val="1D2939"/>
              </a:buClr>
              <a:buFont typeface="Arial"/>
              <a:buChar char="•"/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6"/>
          <p:cNvSpPr/>
          <p:nvPr/>
        </p:nvSpPr>
        <p:spPr>
          <a:xfrm>
            <a:off x="530280" y="6546960"/>
            <a:ext cx="73148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DIWALI SALES ANALYTICS  •  PYTHON / PANDAS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7"/>
          <p:cNvSpPr/>
          <p:nvPr/>
        </p:nvSpPr>
        <p:spPr>
          <a:xfrm>
            <a:off x="11201400" y="65106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08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Box 1"/>
          <p:cNvSpPr/>
          <p:nvPr/>
        </p:nvSpPr>
        <p:spPr>
          <a:xfrm>
            <a:off x="502920" y="29268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42B4A"/>
                </a:solidFill>
                <a:effectLst/>
                <a:uFillTx/>
                <a:latin typeface="Aptos"/>
              </a:rPr>
              <a:t>Regional performance | Zone revenue &amp; AOV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2"/>
          <p:cNvSpPr/>
          <p:nvPr/>
        </p:nvSpPr>
        <p:spPr>
          <a:xfrm>
            <a:off x="530280" y="831960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Central leads zonal revenue; Southern records the highest average order value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Rectangle 3"/>
          <p:cNvSpPr/>
          <p:nvPr/>
        </p:nvSpPr>
        <p:spPr>
          <a:xfrm>
            <a:off x="530280" y="1170360"/>
            <a:ext cx="776880" cy="54360"/>
          </a:xfrm>
          <a:prstGeom prst="rect">
            <a:avLst/>
          </a:prstGeom>
          <a:solidFill>
            <a:srgbClr val="1F9D8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9" name="Picture 4" descr="zone_revenue.png"/>
          <p:cNvPicPr/>
          <p:nvPr/>
        </p:nvPicPr>
        <p:blipFill>
          <a:blip r:embed="rId2"/>
          <a:stretch/>
        </p:blipFill>
        <p:spPr>
          <a:xfrm>
            <a:off x="502920" y="1417320"/>
            <a:ext cx="5211720" cy="4297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Picture 5" descr="zone_aov.png"/>
          <p:cNvPicPr/>
          <p:nvPr/>
        </p:nvPicPr>
        <p:blipFill>
          <a:blip r:embed="rId3"/>
          <a:stretch/>
        </p:blipFill>
        <p:spPr>
          <a:xfrm>
            <a:off x="5806440" y="1417320"/>
            <a:ext cx="5806080" cy="429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Box 6"/>
          <p:cNvSpPr/>
          <p:nvPr/>
        </p:nvSpPr>
        <p:spPr>
          <a:xfrm>
            <a:off x="731520" y="5806440"/>
            <a:ext cx="52117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42B4A"/>
                </a:solidFill>
                <a:effectLst/>
                <a:uFillTx/>
                <a:latin typeface="Aptos"/>
              </a:rPr>
              <a:t>Revenue leader: Central zone (₹4.16 Cr)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7"/>
          <p:cNvSpPr/>
          <p:nvPr/>
        </p:nvSpPr>
        <p:spPr>
          <a:xfrm>
            <a:off x="6035040" y="5806440"/>
            <a:ext cx="53031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42B4A"/>
                </a:solidFill>
                <a:effectLst/>
                <a:uFillTx/>
                <a:latin typeface="Aptos"/>
              </a:rPr>
              <a:t>AOV leader: Southern zone (₹3,945 per order)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8"/>
          <p:cNvSpPr/>
          <p:nvPr/>
        </p:nvSpPr>
        <p:spPr>
          <a:xfrm>
            <a:off x="530280" y="6546960"/>
            <a:ext cx="73148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DIWALI SALES ANALYTICS  •  PYTHON / PANDAS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9"/>
          <p:cNvSpPr/>
          <p:nvPr/>
        </p:nvSpPr>
        <p:spPr>
          <a:xfrm>
            <a:off x="11201400" y="65106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09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Box 1"/>
          <p:cNvSpPr/>
          <p:nvPr/>
        </p:nvSpPr>
        <p:spPr>
          <a:xfrm>
            <a:off x="502920" y="29268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42B4A"/>
                </a:solidFill>
                <a:effectLst/>
                <a:uFillTx/>
                <a:latin typeface="Aptos"/>
              </a:rPr>
              <a:t>Customer profile | Occupation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530280" y="831960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IT Sector generates the highest revenue; Government records the highest average transaction amount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3"/>
          <p:cNvSpPr/>
          <p:nvPr/>
        </p:nvSpPr>
        <p:spPr>
          <a:xfrm>
            <a:off x="530280" y="1170360"/>
            <a:ext cx="776880" cy="54360"/>
          </a:xfrm>
          <a:prstGeom prst="rect">
            <a:avLst/>
          </a:prstGeom>
          <a:solidFill>
            <a:srgbClr val="1F9D8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8" name="Picture 4" descr="occupation_sales.png"/>
          <p:cNvPicPr/>
          <p:nvPr/>
        </p:nvPicPr>
        <p:blipFill>
          <a:blip r:embed="rId2"/>
          <a:stretch/>
        </p:blipFill>
        <p:spPr>
          <a:xfrm>
            <a:off x="502920" y="1371600"/>
            <a:ext cx="5760360" cy="4663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9" name="Picture 5" descr="occupation_avg.png"/>
          <p:cNvPicPr/>
          <p:nvPr/>
        </p:nvPicPr>
        <p:blipFill>
          <a:blip r:embed="rId3"/>
          <a:stretch/>
        </p:blipFill>
        <p:spPr>
          <a:xfrm>
            <a:off x="6309360" y="1371600"/>
            <a:ext cx="5348880" cy="466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TextBox 6"/>
          <p:cNvSpPr/>
          <p:nvPr/>
        </p:nvSpPr>
        <p:spPr>
          <a:xfrm>
            <a:off x="530280" y="6546960"/>
            <a:ext cx="73148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DIWALI SALES ANALYTICS  •  PYTHON / PANDAS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7"/>
          <p:cNvSpPr/>
          <p:nvPr/>
        </p:nvSpPr>
        <p:spPr>
          <a:xfrm>
            <a:off x="11201400" y="65106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10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1"/>
          <p:cNvSpPr/>
          <p:nvPr/>
        </p:nvSpPr>
        <p:spPr>
          <a:xfrm>
            <a:off x="502920" y="29268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42B4A"/>
                </a:solidFill>
                <a:effectLst/>
                <a:uFillTx/>
                <a:latin typeface="Aptos"/>
              </a:rPr>
              <a:t>Product performance | Categories &amp; top products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2"/>
          <p:cNvSpPr/>
          <p:nvPr/>
        </p:nvSpPr>
        <p:spPr>
          <a:xfrm>
            <a:off x="530280" y="831960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Food leads category revenue; the five listed products rank highest by individual revenue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Rectangle 3"/>
          <p:cNvSpPr/>
          <p:nvPr/>
        </p:nvSpPr>
        <p:spPr>
          <a:xfrm>
            <a:off x="530280" y="1170360"/>
            <a:ext cx="776880" cy="54360"/>
          </a:xfrm>
          <a:prstGeom prst="rect">
            <a:avLst/>
          </a:prstGeom>
          <a:solidFill>
            <a:srgbClr val="1F9D8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65" name="Picture 4" descr="category_sales.png"/>
          <p:cNvPicPr/>
          <p:nvPr/>
        </p:nvPicPr>
        <p:blipFill>
          <a:blip r:embed="rId2"/>
          <a:stretch/>
        </p:blipFill>
        <p:spPr>
          <a:xfrm>
            <a:off x="502920" y="1325880"/>
            <a:ext cx="5714640" cy="470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6" name="Picture 5" descr="top_products.png"/>
          <p:cNvPicPr/>
          <p:nvPr/>
        </p:nvPicPr>
        <p:blipFill>
          <a:blip r:embed="rId3"/>
          <a:stretch/>
        </p:blipFill>
        <p:spPr>
          <a:xfrm>
            <a:off x="6263640" y="1325880"/>
            <a:ext cx="5394600" cy="47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7" name="TextBox 6"/>
          <p:cNvSpPr/>
          <p:nvPr/>
        </p:nvSpPr>
        <p:spPr>
          <a:xfrm>
            <a:off x="530280" y="6546960"/>
            <a:ext cx="73148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DIWALI SALES ANALYTICS  •  PYTHON / PANDAS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7"/>
          <p:cNvSpPr/>
          <p:nvPr/>
        </p:nvSpPr>
        <p:spPr>
          <a:xfrm>
            <a:off x="11201400" y="65106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11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Box 1"/>
          <p:cNvSpPr/>
          <p:nvPr/>
        </p:nvSpPr>
        <p:spPr>
          <a:xfrm>
            <a:off x="502920" y="29268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42B4A"/>
                </a:solidFill>
                <a:effectLst/>
                <a:uFillTx/>
                <a:latin typeface="Aptos"/>
              </a:rPr>
              <a:t>Top five products by revenue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2"/>
          <p:cNvSpPr/>
          <p:nvPr/>
        </p:nvSpPr>
        <p:spPr>
          <a:xfrm>
            <a:off x="530280" y="831960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Ranked by total Amount across all transaction records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3"/>
          <p:cNvSpPr/>
          <p:nvPr/>
        </p:nvSpPr>
        <p:spPr>
          <a:xfrm>
            <a:off x="530280" y="1170360"/>
            <a:ext cx="776880" cy="54360"/>
          </a:xfrm>
          <a:prstGeom prst="rect">
            <a:avLst/>
          </a:prstGeom>
          <a:solidFill>
            <a:srgbClr val="1F9D8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72" name="Table 4"/>
          <p:cNvGraphicFramePr/>
          <p:nvPr/>
        </p:nvGraphicFramePr>
        <p:xfrm>
          <a:off x="960120" y="1600200"/>
          <a:ext cx="10241280" cy="347328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88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Rank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Product ID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Revenue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Orders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42B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8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P00265242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₹540,136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127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8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P00110942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₹424,833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116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8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P00184942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₹401,816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82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8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P00112142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₹341,020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64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88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5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P00059442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₹338,571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D2939"/>
                          </a:solidFill>
                          <a:effectLst/>
                          <a:uFillTx/>
                          <a:latin typeface="Aptos"/>
                        </a:rPr>
                        <a:t>70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9440" marR="109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3" name="TextBox 5"/>
          <p:cNvSpPr/>
          <p:nvPr/>
        </p:nvSpPr>
        <p:spPr>
          <a:xfrm>
            <a:off x="1005840" y="5440680"/>
            <a:ext cx="98751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Product ranking reflects total revenue, not unit price or profit margin.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6"/>
          <p:cNvSpPr/>
          <p:nvPr/>
        </p:nvSpPr>
        <p:spPr>
          <a:xfrm>
            <a:off x="530280" y="6546960"/>
            <a:ext cx="73148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DIWALI SALES ANALYTICS  •  PYTHON / PANDAS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7"/>
          <p:cNvSpPr/>
          <p:nvPr/>
        </p:nvSpPr>
        <p:spPr>
          <a:xfrm>
            <a:off x="11201400" y="65106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12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Box 1"/>
          <p:cNvSpPr/>
          <p:nvPr/>
        </p:nvSpPr>
        <p:spPr>
          <a:xfrm>
            <a:off x="502920" y="292680"/>
            <a:ext cx="111553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42B4A"/>
                </a:solidFill>
                <a:effectLst/>
                <a:uFillTx/>
                <a:latin typeface="Aptos"/>
              </a:rPr>
              <a:t>Recommendations &amp; next steps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2"/>
          <p:cNvSpPr/>
          <p:nvPr/>
        </p:nvSpPr>
        <p:spPr>
          <a:xfrm>
            <a:off x="530280" y="859339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Translate analytical findings into measurable business actions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Rectangle 3"/>
          <p:cNvSpPr/>
          <p:nvPr/>
        </p:nvSpPr>
        <p:spPr>
          <a:xfrm>
            <a:off x="530280" y="1170360"/>
            <a:ext cx="776880" cy="54360"/>
          </a:xfrm>
          <a:prstGeom prst="rect">
            <a:avLst/>
          </a:prstGeom>
          <a:solidFill>
            <a:srgbClr val="1F9D8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TextBox 4"/>
          <p:cNvSpPr/>
          <p:nvPr/>
        </p:nvSpPr>
        <p:spPr>
          <a:xfrm>
            <a:off x="731520" y="1463040"/>
            <a:ext cx="10789560" cy="448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750" indent="-285750" defTabSz="457200">
              <a:lnSpc>
                <a:spcPct val="100000"/>
              </a:lnSpc>
              <a:spcAft>
                <a:spcPts val="1199"/>
              </a:spcAft>
              <a:buFont typeface="Wingdings" panose="05000000000000000000" pitchFamily="2" charset="2"/>
              <a:buChar char="v"/>
            </a:pPr>
            <a:r>
              <a:rPr lang="en-US" sz="1500" b="0" u="none" strike="noStrike" dirty="0">
                <a:solidFill>
                  <a:srgbClr val="1D2939"/>
                </a:solidFill>
                <a:effectLst/>
                <a:uFillTx/>
                <a:latin typeface="Aptos"/>
              </a:rPr>
              <a:t>Prioritize campaigns for customers aged 26–35 and female customers; validate messaging through A/B testing.
Focus regional planning on Uttar Pradesh and other leading states, while accounting for marketing spend and audience reach.
Investigate high-order, lower-revenue states for basket size, discounting and product mix.
Sustain Food category performance through inventory planning and cross-selling complementary products.
Identify practices in the high-AOV Southern zone that could improve basket value elsewhere.
Enrich future analysis with profit margin, discount, channel, campaign cost and transaction date fields to assess profitability and seasonality.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5"/>
          <p:cNvSpPr/>
          <p:nvPr/>
        </p:nvSpPr>
        <p:spPr>
          <a:xfrm>
            <a:off x="530280" y="6546960"/>
            <a:ext cx="73148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DIWALI SALES ANALYTICS  •  PYTHON / PANDAS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6"/>
          <p:cNvSpPr/>
          <p:nvPr/>
        </p:nvSpPr>
        <p:spPr>
          <a:xfrm>
            <a:off x="11201400" y="65106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85"/>
                </a:solidFill>
                <a:effectLst/>
                <a:uFillTx/>
                <a:latin typeface="Aptos"/>
              </a:rPr>
              <a:t>13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TextBox 1"/>
          <p:cNvSpPr/>
          <p:nvPr/>
        </p:nvSpPr>
        <p:spPr>
          <a:xfrm>
            <a:off x="822960" y="1325880"/>
            <a:ext cx="10515240" cy="64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3600" b="1" u="none" strike="noStrike">
                <a:solidFill>
                  <a:schemeClr val="accent6"/>
                </a:solidFill>
                <a:effectLst/>
                <a:uFillTx/>
                <a:latin typeface="Aptos"/>
              </a:rPr>
              <a:t>THANK YOU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2"/>
          <p:cNvSpPr/>
          <p:nvPr/>
        </p:nvSpPr>
        <p:spPr>
          <a:xfrm>
            <a:off x="822960" y="2423160"/>
            <a:ext cx="10515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B9D8E8"/>
                </a:solidFill>
                <a:effectLst/>
                <a:uFillTx/>
                <a:latin typeface="Aptos"/>
              </a:rPr>
              <a:t>Key takeaway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3"/>
          <p:cNvSpPr/>
          <p:nvPr/>
        </p:nvSpPr>
        <p:spPr>
          <a:xfrm>
            <a:off x="1325880" y="2971800"/>
            <a:ext cx="9509400" cy="70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Revenue is concentrated among female customers, the 26–35 age segment, the Central zone and the Food category.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4"/>
          <p:cNvSpPr/>
          <p:nvPr/>
        </p:nvSpPr>
        <p:spPr>
          <a:xfrm>
            <a:off x="1097280" y="5074920"/>
            <a:ext cx="9966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D9E4EF"/>
                </a:solidFill>
                <a:effectLst/>
                <a:uFillTx/>
                <a:latin typeface="Aptos"/>
              </a:rPr>
              <a:t>Dataset: 11,251 records • 3,755 distinct User_IDs • 12 missing Amount values excluded from revenue totals.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5"/>
          <p:cNvSpPr/>
          <p:nvPr/>
        </p:nvSpPr>
        <p:spPr>
          <a:xfrm>
            <a:off x="914400" y="545256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D9E4EF"/>
                </a:solidFill>
                <a:effectLst/>
                <a:uFillTx/>
                <a:latin typeface="Aptos"/>
              </a:rPr>
              <a:t>Prepared using the supplied notebook and CSV dataset. Database connection credentials are not included in this report.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Rectangle 6"/>
          <p:cNvSpPr/>
          <p:nvPr/>
        </p:nvSpPr>
        <p:spPr>
          <a:xfrm>
            <a:off x="7501320" y="6236280"/>
            <a:ext cx="4681800" cy="56376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457200">
              <a:lnSpc>
                <a:spcPct val="100000"/>
              </a:lnSpc>
            </a:pPr>
            <a:r>
              <a:rPr lang="en-IN" sz="1800" b="1" u="none" strike="noStrike" dirty="0">
                <a:solidFill>
                  <a:schemeClr val="accent6"/>
                </a:solidFill>
                <a:effectLst/>
                <a:uFillTx/>
                <a:latin typeface="Aptos"/>
              </a:rPr>
              <a:t>TURNING DATA INTO DECISIONS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 defTabSz="457200">
              <a:lnSpc>
                <a:spcPct val="100000"/>
              </a:lnSpc>
            </a:pPr>
            <a:r>
              <a:rPr lang="en-IN" sz="1400" b="1" i="1" u="none" strike="noStrike" dirty="0">
                <a:solidFill>
                  <a:schemeClr val="lt1"/>
                </a:solidFill>
                <a:effectLst/>
                <a:uFillTx/>
                <a:latin typeface="Aptos"/>
              </a:rPr>
              <a:t>A Diwali Sales Analytics Report · </a:t>
            </a:r>
            <a:r>
              <a:rPr lang="en-IN" sz="1400" b="1" i="1" dirty="0">
                <a:solidFill>
                  <a:schemeClr val="lt1"/>
                </a:solidFill>
                <a:latin typeface="Aptos"/>
              </a:rPr>
              <a:t>Shubham Kondhare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</TotalTime>
  <Words>1042</Words>
  <Application>Microsoft Office PowerPoint</Application>
  <PresentationFormat>Widescreen</PresentationFormat>
  <Paragraphs>131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Algerian</vt:lpstr>
      <vt:lpstr>Aptos</vt:lpstr>
      <vt:lpstr>Arial</vt:lpstr>
      <vt:lpstr>Calibri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Shubham</dc:creator>
  <cp:lastModifiedBy>Shubham kondhare</cp:lastModifiedBy>
  <cp:revision>2</cp:revision>
  <dcterms:modified xsi:type="dcterms:W3CDTF">2026-10-12T10:10:33Z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Rohan Khole</cp:lastModifiedBy>
  <dcterms:modified xsi:type="dcterms:W3CDTF">2026-10-10T11:03:28Z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r8>15</vt:r8>
  </property>
</Properties>
</file>